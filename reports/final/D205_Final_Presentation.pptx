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3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Violations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3017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205  |  Feraol Abera  | 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shape the outcome of a traffic stop?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060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60604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where, and what kind of stops occur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060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60604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37560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associations between stop circumstances and outcomes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060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60604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325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17830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72200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to predict stop outcome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6908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0690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-- Traffic Violations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County Open Data Portal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 via API (1.4M+ total)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6946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5694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per stop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23697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23697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GPS, violation type,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race, gender, search, alcohol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406908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804672"/>
            <a:ext cx="40690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8046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-- Parking Inventory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234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County Open Data Portal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90195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97880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parking facilities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56946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25694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proximity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82296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Lowercased, spaces replaced with underscores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9903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39903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date_of_stop as datetime; time_of_stop as time object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8412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7510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97510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year, month, day_of_week, hour, time_period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55117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conversion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55117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fields converted to 0/1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27248"/>
            <a:ext cx="8412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1272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cleanup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127248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Case applied; invalid values set to NaN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703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fix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70332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of (0.0, 0.0) set to NaN -- ~15% of records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79392"/>
            <a:ext cx="84124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2793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filter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427939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2018+; ~212,000 rows in processed file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5603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052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(cleaned)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868680"/>
            <a:ext cx="25603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9052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17520" y="1371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868680"/>
            <a:ext cx="25603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9052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0" y="1371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25603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86537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1828800"/>
            <a:ext cx="25603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17520" y="186537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017520" y="233172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day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834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17320" y="2898648"/>
            <a:ext cx="4594860" cy="274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03620" y="28346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4015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17320" y="3465576"/>
            <a:ext cx="198882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97580" y="34015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96849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17320" y="4032504"/>
            <a:ext cx="2743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83080" y="396849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-- Time Patterns (Q1 and Q3)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303520" cy="2926080"/>
          </a:xfrm>
          <a:prstGeom prst="rect">
            <a:avLst/>
          </a:prstGeom>
        </p:spPr>
      </p:pic>
      <p:pic>
        <p:nvPicPr>
          <p:cNvPr id="6" name="Image 1" descr="/home/claude/chart_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804672"/>
            <a:ext cx="333756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3840480"/>
            <a:ext cx="25603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65760" y="38770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PM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365760" y="43434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017520" y="3840480"/>
            <a:ext cx="25603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017520" y="38770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017520" y="43434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Day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669280" y="3840480"/>
            <a:ext cx="256032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669280" y="38770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669280" y="43434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Q3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-- Violation Types and Geography (Q2 and Q5)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45720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= 67% of all stops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983480" y="4069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density: Rockville, Gaithersburg, Germantown, Wheaton</a:t>
            </a:r>
          </a:p>
          <a:p>
            <a:pPr marL="0" indent="0" algn="ctr">
              <a:buNone/>
            </a:pPr>
            <a:endParaRPr lang="en-US" sz="1100" b="1" dirty="0">
              <a:solidFill>
                <a:srgbClr val="1B4F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7C192D-8376-9FDD-0E1D-1809CBCC8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49796"/>
            <a:ext cx="3886200" cy="2510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-- Demographics and Violation Type (Q6)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4864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86868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0" y="868680"/>
            <a:ext cx="54864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08192" y="9418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result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08192" y="1252728"/>
            <a:ext cx="2651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 |  Chi2 = 2,560.74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92024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1920240"/>
            <a:ext cx="54864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08192" y="19933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citation rate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08192" y="2304288"/>
            <a:ext cx="2651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drivers: 39.7%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drivers: 23.7%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2971800"/>
            <a:ext cx="2880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0" y="2971800"/>
            <a:ext cx="54864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08192" y="3044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08192" y="335584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deployment likely explains much of the variation.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Dataset -- Geographic Proximity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stops near parking facilities have different outcomes?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402336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0233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13048" cy="2587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~200 parking facility locations from the parking dataset</a:t>
            </a:r>
          </a:p>
          <a:p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parking locations alongside traffic stop locations</a:t>
            </a:r>
          </a:p>
          <a:p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distance from each stop to the nearest parking facility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stop outcomes within 0.5 mi vs. farther away</a:t>
            </a:r>
          </a:p>
          <a:p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to check if outcomes differ by proximity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61872"/>
            <a:ext cx="411480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261872"/>
            <a:ext cx="411480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54864" cy="7498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7099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rate is higher near parking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19842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within 0.5 mi of a parking facility show a higher proportion of citations vs. warnings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54864" cy="7498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5786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statistically significant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852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p &lt; 0.05 -- proximity to parking and stop outcome are not independent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29000"/>
            <a:ext cx="54864" cy="7498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4472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72160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near commercial/parking areas tends to be more formal meaning officers may apply stricter standards in high-traffic zones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-- Logistic Regression (Q4, Q7, Q8)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69080" cy="2743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0690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Q4 -- Warning vs. Citation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alcohol is the strongest predictor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764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search_conducted increases citation likelihood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2951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accident involvement also predicts citations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8254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hour has a modest effect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804672"/>
            <a:ext cx="4069080" cy="2743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804672"/>
            <a:ext cx="40690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0328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Q7 -- Search Conducted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alcohol is the strongest predictor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5192" y="1764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accident involvement increases search likelihood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5192" y="22951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violation type contributes significantly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5192" y="28254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Chi-square: p &lt; 0.05 -- stops with a search have significantly more citations and fewer warnings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-- Random Forest: Predict Stop Outcome (Q10)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 |  max depth 12  |  balanced class weights  |  40,000 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race_enc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618488"/>
            <a:ext cx="2615184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11496" y="157276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568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2002536"/>
            <a:ext cx="2139696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36008" y="195681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3408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gender_enc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2386584"/>
            <a:ext cx="1783080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79392" y="234086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72491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search_conducted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2770632"/>
            <a:ext cx="1545336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41648" y="272491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23160" y="3154680"/>
            <a:ext cx="1307592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03904" y="310896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4930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dow_num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3538728"/>
            <a:ext cx="1069848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66160" y="349300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8770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period_num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3922776"/>
            <a:ext cx="832104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28416" y="38770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2611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4306824"/>
            <a:ext cx="594360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90672" y="426110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94960" y="2121408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32120" y="212140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21214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and Citation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2779776"/>
            <a:ext cx="33832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32120" y="27797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class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0" y="27797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ESERO (small sample)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54864" cy="12618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dominate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207008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stops end in a warning meaning officers exercise significant discretion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54864" cy="12618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286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place matter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59689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4 PM; hotspots in Rockville, Gaithersburg, Germantown, Wheaton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602736"/>
            <a:ext cx="54864" cy="12618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6758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is busiest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986784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 more stops than Sunday; day of week and violation type are linked (p &lt; 0.0001)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82296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822960"/>
            <a:ext cx="54864" cy="12618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65192" y="8961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are consequential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1207008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with a search have far more citations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21284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212848"/>
            <a:ext cx="54864" cy="12618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65192" y="2286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proximity matters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5192" y="2596896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within 0.5 mi of parking facilities have higher citation rates (p &lt; 0.05)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602736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3602736"/>
            <a:ext cx="54864" cy="12618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65192" y="36758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are significant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5192" y="3986784"/>
            <a:ext cx="3886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drivers: 39.7% citation rate vs. 23.7% for White drivers -- likely geographic confounding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595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Dataset scale -- 1.4M records too large for GitHub; balanced size vs. runtime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5389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Interpreting demographic patterns carefully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4864" cy="12344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276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58775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Folium map rendering with real violation and parking data side by side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Random Forest confirmed stop circumstances matter more than demographics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54864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6941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change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0507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Pull full 1.4M records for more reliable rare-class modeling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3159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Build a Tableau dashboard for non-technical audiences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3520440"/>
          </a:xfrm>
          <a:prstGeom prst="rect">
            <a:avLst/>
          </a:prstGeom>
          <a:solidFill>
            <a:srgbClr val="122040"/>
          </a:solidFill>
          <a:ln w="12700">
            <a:solidFill>
              <a:srgbClr val="2E86C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048256"/>
            <a:ext cx="1280160" cy="0"/>
          </a:xfrm>
          <a:prstGeom prst="line">
            <a:avLst/>
          </a:prstGeom>
          <a:noFill/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all 1.4M records and retrain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43300" y="960120"/>
            <a:ext cx="1920240" cy="3520440"/>
          </a:xfrm>
          <a:prstGeom prst="rect">
            <a:avLst/>
          </a:prstGeom>
          <a:solidFill>
            <a:srgbClr val="122040"/>
          </a:solidFill>
          <a:ln w="12700">
            <a:solidFill>
              <a:srgbClr val="2E86C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97580" y="10332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589020" y="16002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63340" y="2011680"/>
            <a:ext cx="1280160" cy="0"/>
          </a:xfrm>
          <a:prstGeom prst="line">
            <a:avLst/>
          </a:prstGeom>
          <a:noFill/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34740" y="2098548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enforcement patterns change year over year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960120"/>
            <a:ext cx="1920240" cy="3520440"/>
          </a:xfrm>
          <a:prstGeom prst="rect">
            <a:avLst/>
          </a:prstGeom>
          <a:solidFill>
            <a:srgbClr val="122040"/>
          </a:solidFill>
          <a:ln w="12700">
            <a:solidFill>
              <a:srgbClr val="2E86C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7512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66560" y="16642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95160" y="2048256"/>
            <a:ext cx="1280160" cy="0"/>
          </a:xfrm>
          <a:prstGeom prst="line">
            <a:avLst/>
          </a:prstGeom>
          <a:noFill/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2139696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or Plotly Dash for public-facing findings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4864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Alraee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throughout the semester and project structure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4864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331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Saidi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Perine</a:t>
            </a:r>
          </a:p>
        </p:txBody>
      </p:sp>
      <p:sp>
        <p:nvSpPr>
          <p:cNvPr id="12" name="Text 10"/>
          <p:cNvSpPr/>
          <p:nvPr/>
        </p:nvSpPr>
        <p:spPr>
          <a:xfrm>
            <a:off x="566928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Professors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A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54864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611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College DATA 205 class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977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discussion throughout the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9378</TotalTime>
  <Words>864</Words>
  <Application>Microsoft Macintosh PowerPoint</Application>
  <PresentationFormat>On-screen Show (16:9)</PresentationFormat>
  <Paragraphs>196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Violations Data Analysis -- Final Presentation</dc:title>
  <dc:subject>PptxGenJS Presentation</dc:subject>
  <dc:creator>Feraol Abera</dc:creator>
  <cp:lastModifiedBy>Abera, Feraol M</cp:lastModifiedBy>
  <cp:revision>3</cp:revision>
  <dcterms:created xsi:type="dcterms:W3CDTF">2026-05-06T14:13:06Z</dcterms:created>
  <dcterms:modified xsi:type="dcterms:W3CDTF">2026-05-13T02:50:14Z</dcterms:modified>
</cp:coreProperties>
</file>